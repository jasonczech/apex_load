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371600"/>
            <a:ext cx="640080" cy="54864"/>
          </a:xfrm>
          <a:prstGeom prst="rect">
            <a:avLst/>
          </a:prstGeom>
          <a:solidFill>
            <a:srgbClr val="27C4D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5179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SOURCE-GROUNDED PRODUCT COMPARISON · JUNE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 Load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27C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LoadRunner Enterprise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9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Kubernetes-native performance testing, measured against the enterprise incumbent — deployability, scalability, protocol breadth, and the honest gaps.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732520" y="5669280"/>
            <a:ext cx="420624" cy="457200"/>
          </a:xfrm>
          <a:prstGeom prst="roundRect">
            <a:avLst>
              <a:gd name="adj" fmla="val 10870"/>
            </a:avLst>
          </a:prstGeom>
          <a:solidFill>
            <a:srgbClr val="5E7C92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81160" y="5349240"/>
            <a:ext cx="420624" cy="777240"/>
          </a:xfrm>
          <a:prstGeom prst="roundRect">
            <a:avLst>
              <a:gd name="adj" fmla="val 10870"/>
            </a:avLst>
          </a:prstGeom>
          <a:solidFill>
            <a:srgbClr val="129DB2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829800" y="5029200"/>
            <a:ext cx="420624" cy="1097280"/>
          </a:xfrm>
          <a:prstGeom prst="roundRect">
            <a:avLst>
              <a:gd name="adj" fmla="val 10870"/>
            </a:avLst>
          </a:prstGeom>
          <a:solidFill>
            <a:srgbClr val="129DB2">
              <a:alpha val="8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378440" y="4663440"/>
            <a:ext cx="420624" cy="1463040"/>
          </a:xfrm>
          <a:prstGeom prst="roundRect">
            <a:avLst>
              <a:gd name="adj" fmla="val 10870"/>
            </a:avLst>
          </a:prstGeom>
          <a:solidFill>
            <a:srgbClr val="27C4D8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27080" y="4251960"/>
            <a:ext cx="420624" cy="1874520"/>
          </a:xfrm>
          <a:prstGeom prst="roundRect">
            <a:avLst>
              <a:gd name="adj" fmla="val 10870"/>
            </a:avLst>
          </a:prstGeom>
          <a:solidFill>
            <a:srgbClr val="2FAE78">
              <a:alpha val="8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475720" y="3794760"/>
            <a:ext cx="420624" cy="2331720"/>
          </a:xfrm>
          <a:prstGeom prst="roundRect">
            <a:avLst>
              <a:gd name="adj" fmla="val 10870"/>
            </a:avLst>
          </a:prstGeom>
          <a:solidFill>
            <a:srgbClr val="2FAE78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5074920"/>
            <a:ext cx="82296" cy="868680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50292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wins on architecture and day-to-day usability.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LRE wins on migration intelligence, analysis depth, and battle-tested scale.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Audience: engineering · product · evaluators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129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3891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29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35024" y="6492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one-page verdict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298448"/>
            <a:ext cx="11057839" cy="13716"/>
          </a:xfrm>
          <a:prstGeom prst="rect">
            <a:avLst/>
          </a:prstGeom>
          <a:solidFill>
            <a:srgbClr val="DDE7ED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508760"/>
            <a:ext cx="11057839" cy="841248"/>
          </a:xfrm>
          <a:prstGeom prst="rect">
            <a:avLst/>
          </a:prstGeom>
          <a:solidFill>
            <a:srgbClr val="0E2233"/>
          </a:solidFill>
          <a:ln/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508760"/>
            <a:ext cx="91440" cy="841248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1508760"/>
            <a:ext cx="1050919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Load is architecturally cleaner and more usable for day-to-day HTTP/API testing.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9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trails LRE on correlation intelligence, browser fidelity, offline analysis depth, and proven scale.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66928" y="2606040"/>
            <a:ext cx="2558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2606040"/>
            <a:ext cx="82296" cy="1325880"/>
          </a:xfrm>
          <a:prstGeom prst="rect">
            <a:avLst/>
          </a:prstGeom>
          <a:solidFill>
            <a:srgbClr val="129DB2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2724912"/>
            <a:ext cx="228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9D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786384" y="3401568"/>
            <a:ext cx="217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 compiled into every binary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99968" y="2606040"/>
            <a:ext cx="2558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99968" y="2606040"/>
            <a:ext cx="82296" cy="1325880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16" name="Text 13"/>
          <p:cNvSpPr/>
          <p:nvPr/>
        </p:nvSpPr>
        <p:spPr>
          <a:xfrm>
            <a:off x="3601136" y="2724912"/>
            <a:ext cx="228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A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3619424" y="3401568"/>
            <a:ext cx="217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app: author → run → analyze → admin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33008" y="2606040"/>
            <a:ext cx="2558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33008" y="2606040"/>
            <a:ext cx="82296" cy="1325880"/>
          </a:xfrm>
          <a:prstGeom prst="rect">
            <a:avLst/>
          </a:prstGeom>
          <a:solidFill>
            <a:srgbClr val="129DB2"/>
          </a:solidFill>
          <a:ln/>
        </p:spPr>
      </p:sp>
      <p:sp>
        <p:nvSpPr>
          <p:cNvPr id="20" name="Text 17"/>
          <p:cNvSpPr/>
          <p:nvPr/>
        </p:nvSpPr>
        <p:spPr>
          <a:xfrm>
            <a:off x="6434176" y="2724912"/>
            <a:ext cx="228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9D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 ns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6452464" y="3401568"/>
            <a:ext cx="217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hot-path / transaction (benchmarked)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066047" y="2606040"/>
            <a:ext cx="2558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066047" y="2606040"/>
            <a:ext cx="82296" cy="1325880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24" name="Text 21"/>
          <p:cNvSpPr/>
          <p:nvPr/>
        </p:nvSpPr>
        <p:spPr>
          <a:xfrm>
            <a:off x="9267215" y="2724912"/>
            <a:ext cx="228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A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1–50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9285503" y="3401568"/>
            <a:ext cx="217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pods, HPA/KEDA autoscaled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66928" y="4160520"/>
            <a:ext cx="539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66928" y="4160520"/>
            <a:ext cx="82296" cy="2011680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28" name="Text 25"/>
          <p:cNvSpPr/>
          <p:nvPr/>
        </p:nvSpPr>
        <p:spPr>
          <a:xfrm>
            <a:off x="841248" y="4315968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A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APEX LOAD LEADS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59536" y="4617720"/>
            <a:ext cx="484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Goroutine engine + K8s-native HPA autoscaling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JSON DSL + Parquet/JSONL open results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pane of glass — no thick clients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VUser scaling, pause/resume, duration tune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import paths: LR · JMeter · OpenAPI · HAR · k6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33008" y="4160520"/>
            <a:ext cx="539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233008" y="4160520"/>
            <a:ext cx="82296" cy="2011680"/>
          </a:xfrm>
          <a:prstGeom prst="rect">
            <a:avLst/>
          </a:prstGeom>
          <a:solidFill>
            <a:srgbClr val="5E7C92"/>
          </a:solidFill>
          <a:ln/>
        </p:spPr>
      </p:sp>
      <p:sp>
        <p:nvSpPr>
          <p:cNvPr id="32" name="Text 29"/>
          <p:cNvSpPr/>
          <p:nvPr/>
        </p:nvSpPr>
        <p:spPr>
          <a:xfrm>
            <a:off x="6507328" y="4315968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LRE STILL LEADS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525616" y="4617720"/>
            <a:ext cx="484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VuGen correlation intelligence &amp; design studio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TruClient DOM-aware browser record/replay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Analysis: graph merge, page diagnostics, drill-down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Decade-hardened, reference-scaled deployments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load zones, Vault/mTLS, SAML, marketplace plugins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Load  ·  Product comparison vs OpenText LoadRunner Enterprise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129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3891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29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35024" y="6492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different machines for the same job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298448"/>
            <a:ext cx="11057839" cy="13716"/>
          </a:xfrm>
          <a:prstGeom prst="rect">
            <a:avLst/>
          </a:prstGeom>
          <a:solidFill>
            <a:srgbClr val="DDE7ED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554480"/>
            <a:ext cx="53460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554480"/>
            <a:ext cx="82296" cy="4343400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1810512"/>
            <a:ext cx="457200" cy="457200"/>
          </a:xfrm>
          <a:prstGeom prst="ellipse">
            <a:avLst/>
          </a:prstGeom>
          <a:solidFill>
            <a:srgbClr val="2FAE7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019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35608" y="1792224"/>
            <a:ext cx="424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 Load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435608" y="2157984"/>
            <a:ext cx="424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Cloud-native, single platform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41248" y="2542032"/>
            <a:ext cx="4797400" cy="10973"/>
          </a:xfrm>
          <a:prstGeom prst="rect">
            <a:avLst/>
          </a:prstGeom>
          <a:solidFill>
            <a:srgbClr val="DDE7ED"/>
          </a:solidFill>
          <a:ln/>
        </p:spPr>
      </p:sp>
      <p:sp>
        <p:nvSpPr>
          <p:cNvPr id="14" name="Text 10"/>
          <p:cNvSpPr/>
          <p:nvPr/>
        </p:nvSpPr>
        <p:spPr>
          <a:xfrm>
            <a:off x="877824" y="2697480"/>
            <a:ext cx="4705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Go binaries: controller, generator, apexctl CLI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goroutine = 1 VUser (~2–4 KB stack)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Generators as K8s StatefulSet; controller as Deployment (2 replicas)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React web app for authoring, run, analysis &amp; admin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by default; PostgreSQL (pgx) optional; Redis/Valkey for HA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Telemetry: Prometheus scrape + t-digest percentiles + Dynatrace events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78728" y="1554480"/>
            <a:ext cx="53460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78728" y="1554480"/>
            <a:ext cx="82296" cy="4343400"/>
          </a:xfrm>
          <a:prstGeom prst="rect">
            <a:avLst/>
          </a:prstGeom>
          <a:solidFill>
            <a:srgbClr val="5E7C92"/>
          </a:solidFill>
          <a:ln/>
        </p:spPr>
      </p:sp>
      <p:sp>
        <p:nvSpPr>
          <p:cNvPr id="17" name="Shape 13"/>
          <p:cNvSpPr/>
          <p:nvPr/>
        </p:nvSpPr>
        <p:spPr>
          <a:xfrm>
            <a:off x="6553048" y="1810512"/>
            <a:ext cx="457200" cy="457200"/>
          </a:xfrm>
          <a:prstGeom prst="ellipse">
            <a:avLst/>
          </a:prstGeom>
          <a:solidFill>
            <a:srgbClr val="5E7C9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90195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47408" y="1792224"/>
            <a:ext cx="424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LoadRunner Enterprise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7147408" y="2157984"/>
            <a:ext cx="424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+ load-generator estate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553048" y="2542032"/>
            <a:ext cx="4797400" cy="10973"/>
          </a:xfrm>
          <a:prstGeom prst="rect">
            <a:avLst/>
          </a:prstGeom>
          <a:solidFill>
            <a:srgbClr val="DDE7ED"/>
          </a:solidFill>
          <a:ln/>
        </p:spPr>
      </p:sp>
      <p:sp>
        <p:nvSpPr>
          <p:cNvPr id="22" name="Text 17"/>
          <p:cNvSpPr/>
          <p:nvPr/>
        </p:nvSpPr>
        <p:spPr>
          <a:xfrm>
            <a:off x="6589624" y="2697480"/>
            <a:ext cx="4705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portal + thick-client VuGen + Analysis desktop tool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/ thread VUsers on Load Generator hosts (often Windows)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orchestrates a fleet of provisioned LG VMs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C / JavaScript VUser scripts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RDBMS-backed; mature operational tooling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engine: graph merge, page diagnostics, deep drill-down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Load  ·  Product comparison vs OpenText LoadRunner Enterprise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129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3891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29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DEPLOYABILITY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35024" y="6492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it as containers, not an estate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298448"/>
            <a:ext cx="11057839" cy="13716"/>
          </a:xfrm>
          <a:prstGeom prst="rect">
            <a:avLst/>
          </a:prstGeom>
          <a:solidFill>
            <a:srgbClr val="DDE7ED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554480"/>
            <a:ext cx="65836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554480"/>
            <a:ext cx="82296" cy="4343400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9" name="Text 6"/>
          <p:cNvSpPr/>
          <p:nvPr/>
        </p:nvSpPr>
        <p:spPr>
          <a:xfrm>
            <a:off x="859536" y="17190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2FA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LOAD — DEPLOYS LIKE ANY K8S WORKLOAD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77824" y="2139696"/>
            <a:ext cx="237744" cy="237744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16712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43584" y="208483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charts + Kustomize overlays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local, local-kind, HA, monitoring overlays in-repo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77824" y="2752344"/>
            <a:ext cx="237744" cy="237744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779776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43584" y="2697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 generators + Deployment controller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containers; AKS-targeted, portable to any K8s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77824" y="3364992"/>
            <a:ext cx="237744" cy="237744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392424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43584" y="331012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/ KEDA autoscaling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generator-keda-scaledobject.yaml — scale 1→50 on load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877824" y="3977640"/>
            <a:ext cx="237744" cy="237744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005072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43584" y="392277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 + Service mesh-ready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isolation manifests shipped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877824" y="4590288"/>
            <a:ext cx="237744" cy="237744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617720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43584" y="453542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ServiceMonitor + remote-write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wired out of the box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877824" y="5202936"/>
            <a:ext cx="237744" cy="237744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5230368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243584" y="51480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Redis/Valkey HA + Terraform IaC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HA state; infra-as-code for AKS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7470648" y="1554480"/>
            <a:ext cx="4154119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7470648" y="1554480"/>
            <a:ext cx="82296" cy="2697480"/>
          </a:xfrm>
          <a:prstGeom prst="rect">
            <a:avLst/>
          </a:prstGeom>
          <a:solidFill>
            <a:srgbClr val="5E7C92"/>
          </a:solidFill>
          <a:ln/>
        </p:spPr>
      </p:sp>
      <p:sp>
        <p:nvSpPr>
          <p:cNvPr id="30" name="Text 21"/>
          <p:cNvSpPr/>
          <p:nvPr/>
        </p:nvSpPr>
        <p:spPr>
          <a:xfrm>
            <a:off x="7744968" y="1719072"/>
            <a:ext cx="3696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5E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LRE FOOTPRINT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7763256" y="2057400"/>
            <a:ext cx="3587191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+ provisioned LG hosts/VMs to stand up &amp; license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Windows-centric components for many protocol families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LGs via vendor tooling; heavier per-host footprint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installable products to version &amp; patch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7470648" y="4434840"/>
            <a:ext cx="4154119" cy="1463040"/>
          </a:xfrm>
          <a:prstGeom prst="rect">
            <a:avLst/>
          </a:prstGeom>
          <a:solidFill>
            <a:srgbClr val="0E2233"/>
          </a:solidFill>
          <a:ln/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7470648" y="4434840"/>
            <a:ext cx="82296" cy="1463040"/>
          </a:xfrm>
          <a:prstGeom prst="rect">
            <a:avLst/>
          </a:prstGeom>
          <a:solidFill>
            <a:srgbClr val="27C4D8"/>
          </a:solidFill>
          <a:ln/>
        </p:spPr>
      </p:sp>
      <p:sp>
        <p:nvSpPr>
          <p:cNvPr id="34" name="Text 25"/>
          <p:cNvSpPr/>
          <p:nvPr/>
        </p:nvSpPr>
        <p:spPr>
          <a:xfrm>
            <a:off x="7726680" y="4572000"/>
            <a:ext cx="3696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7726680" y="4828032"/>
            <a:ext cx="3651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image set, declarative manifests, autoscaling for free. APEX leads on deployability for cloud-native shops; LRE's estate model is heavier but battle-tested.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Load  ·  Product comparison vs OpenText LoadRunner Enterprise</a:t>
            </a:r>
            <a:endParaRPr lang="en-US" sz="850" dirty="0"/>
          </a:p>
        </p:txBody>
      </p:sp>
      <p:sp>
        <p:nvSpPr>
          <p:cNvPr id="37" name="Text 28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129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3891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29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35024" y="6492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efficient engine — with honest evidence limits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298448"/>
            <a:ext cx="11057839" cy="13716"/>
          </a:xfrm>
          <a:prstGeom prst="rect">
            <a:avLst/>
          </a:prstGeom>
          <a:solidFill>
            <a:srgbClr val="DDE7ED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554480"/>
            <a:ext cx="5943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554480"/>
            <a:ext cx="82296" cy="2331720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9" name="Text 6"/>
          <p:cNvSpPr/>
          <p:nvPr/>
        </p:nvSpPr>
        <p:spPr>
          <a:xfrm>
            <a:off x="859536" y="17007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FA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EFFICIENCY (WIRED &amp; TESTED)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7824" y="2011680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Goroutine-per-VUser — ~2–4 KB stack vs OS thread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Zero-lock hot path: buffered metric channels (cap 10k)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t-digest streaming percentiles; sync.Pool buffers cut GC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hot path benchmarked at ~8 ns/op (reproducible)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4023360"/>
            <a:ext cx="59436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" y="4023360"/>
            <a:ext cx="82296" cy="1874520"/>
          </a:xfrm>
          <a:prstGeom prst="rect">
            <a:avLst/>
          </a:prstGeom>
          <a:solidFill>
            <a:srgbClr val="129DB2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" y="41696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29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TARGETS (UNBENCHMARKED)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77824" y="4334256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HTTP VUsers / pod on 4 vCPU · 8 GB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VUsers / second / pod ramp-up rate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 s metrics latency, generator → dashboard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 µs harness overhead per transaction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30568" y="1554480"/>
            <a:ext cx="4794199" cy="2468880"/>
          </a:xfrm>
          <a:prstGeom prst="rect">
            <a:avLst/>
          </a:prstGeom>
          <a:solidFill>
            <a:srgbClr val="FBF1E2"/>
          </a:solidFill>
          <a:ln w="12700">
            <a:solidFill>
              <a:srgbClr val="E0913A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30568" y="1554480"/>
            <a:ext cx="82296" cy="2468880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17" name="Shape 14"/>
          <p:cNvSpPr/>
          <p:nvPr/>
        </p:nvSpPr>
        <p:spPr>
          <a:xfrm>
            <a:off x="7104888" y="1755648"/>
            <a:ext cx="365760" cy="365760"/>
          </a:xfrm>
          <a:prstGeom prst="ellipse">
            <a:avLst/>
          </a:prstGeom>
          <a:solidFill>
            <a:srgbClr val="E0913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184" y="1837944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598664" y="1783080"/>
            <a:ext cx="37883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 CHECK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141464" y="2286000"/>
            <a:ext cx="4154119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metrics micro-benchmark is reproducible today.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10k/pod, 50k total &amp; ramp targets have NO published benchmark artifacts — they are aspirational design goals.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cite VUser density as achieved without hardware-specific evidence.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30568" y="4160520"/>
            <a:ext cx="4794199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830568" y="4160520"/>
            <a:ext cx="82296" cy="1737360"/>
          </a:xfrm>
          <a:prstGeom prst="rect">
            <a:avLst/>
          </a:prstGeom>
          <a:solidFill>
            <a:srgbClr val="5E7C92"/>
          </a:solidFill>
          <a:ln/>
        </p:spPr>
      </p:sp>
      <p:sp>
        <p:nvSpPr>
          <p:cNvPr id="23" name="Text 19"/>
          <p:cNvSpPr/>
          <p:nvPr/>
        </p:nvSpPr>
        <p:spPr>
          <a:xfrm>
            <a:off x="7104888" y="4315968"/>
            <a:ext cx="4336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5E7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LRE — PROVEN SCALE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123176" y="4626864"/>
            <a:ext cx="422727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Decade-hardened and reference-scaled across large enterprise deployments. This is LRE's clear edge: trusted numbers at very high VUser counts that APEX has not yet demonstrated.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Load  ·  Product comparison vs OpenText LoadRunner Enterprise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129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3891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29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 COVERED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35024" y="6492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protocol engines, compiled into every binary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298448"/>
            <a:ext cx="11057839" cy="13716"/>
          </a:xfrm>
          <a:prstGeom prst="rect">
            <a:avLst/>
          </a:prstGeom>
          <a:solidFill>
            <a:srgbClr val="DDE7ED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539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481328"/>
            <a:ext cx="82296" cy="713232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1572768"/>
            <a:ext cx="383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HTTP/1.1 &amp; HTTP/2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" y="1865376"/>
            <a:ext cx="383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engine; the 10k-VUser/pod target path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1680" y="1700784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2FAE78"/>
          </a:solidFill>
          <a:ln/>
        </p:spPr>
      </p:sp>
      <p:sp>
        <p:nvSpPr>
          <p:cNvPr id="12" name="Text 9"/>
          <p:cNvSpPr/>
          <p:nvPr/>
        </p:nvSpPr>
        <p:spPr>
          <a:xfrm>
            <a:off x="4751680" y="1700784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33008" y="1481328"/>
            <a:ext cx="539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33008" y="1481328"/>
            <a:ext cx="82296" cy="713232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15" name="Text 12"/>
          <p:cNvSpPr/>
          <p:nvPr/>
        </p:nvSpPr>
        <p:spPr>
          <a:xfrm>
            <a:off x="6507328" y="1572768"/>
            <a:ext cx="383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/ WSDL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07328" y="1865376"/>
            <a:ext cx="383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WSDL import; WS-Security header management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0417759" y="1700784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2FAE78"/>
          </a:solidFill>
          <a:ln/>
        </p:spPr>
      </p:sp>
      <p:sp>
        <p:nvSpPr>
          <p:cNvPr id="18" name="Text 15"/>
          <p:cNvSpPr/>
          <p:nvPr/>
        </p:nvSpPr>
        <p:spPr>
          <a:xfrm>
            <a:off x="10417759" y="1700784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" y="2304288"/>
            <a:ext cx="539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" y="2304288"/>
            <a:ext cx="82296" cy="713232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21" name="Text 18"/>
          <p:cNvSpPr/>
          <p:nvPr/>
        </p:nvSpPr>
        <p:spPr>
          <a:xfrm>
            <a:off x="841248" y="2395728"/>
            <a:ext cx="383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41248" y="2688336"/>
            <a:ext cx="383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Unary + streaming; descriptor-set loading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1680" y="2523744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2FAE78"/>
          </a:solidFill>
          <a:ln/>
        </p:spPr>
      </p:sp>
      <p:sp>
        <p:nvSpPr>
          <p:cNvPr id="24" name="Text 21"/>
          <p:cNvSpPr/>
          <p:nvPr/>
        </p:nvSpPr>
        <p:spPr>
          <a:xfrm>
            <a:off x="4751680" y="2523744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233008" y="2304288"/>
            <a:ext cx="539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233008" y="2304288"/>
            <a:ext cx="82296" cy="713232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27" name="Text 24"/>
          <p:cNvSpPr/>
          <p:nvPr/>
        </p:nvSpPr>
        <p:spPr>
          <a:xfrm>
            <a:off x="6507328" y="2395728"/>
            <a:ext cx="383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507328" y="2688336"/>
            <a:ext cx="383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Frames, ping/close, binary &amp; compressed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0417759" y="2523744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2FAE78"/>
          </a:solidFill>
          <a:ln/>
        </p:spPr>
      </p:sp>
      <p:sp>
        <p:nvSpPr>
          <p:cNvPr id="30" name="Text 27"/>
          <p:cNvSpPr/>
          <p:nvPr/>
        </p:nvSpPr>
        <p:spPr>
          <a:xfrm>
            <a:off x="10417759" y="2523744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66928" y="3127248"/>
            <a:ext cx="539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66928" y="3127248"/>
            <a:ext cx="82296" cy="713232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33" name="Text 30"/>
          <p:cNvSpPr/>
          <p:nvPr/>
        </p:nvSpPr>
        <p:spPr>
          <a:xfrm>
            <a:off x="841248" y="3218688"/>
            <a:ext cx="383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Java-over-HTTP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41248" y="3511296"/>
            <a:ext cx="383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base64 serialized-object codec (MVP)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751680" y="3346704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2FAE78"/>
          </a:solidFill>
          <a:ln/>
        </p:spPr>
      </p:sp>
      <p:sp>
        <p:nvSpPr>
          <p:cNvPr id="36" name="Text 33"/>
          <p:cNvSpPr/>
          <p:nvPr/>
        </p:nvSpPr>
        <p:spPr>
          <a:xfrm>
            <a:off x="4751680" y="3346704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233008" y="3127248"/>
            <a:ext cx="539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233008" y="3127248"/>
            <a:ext cx="82296" cy="713232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39" name="Text 36"/>
          <p:cNvSpPr/>
          <p:nvPr/>
        </p:nvSpPr>
        <p:spPr>
          <a:xfrm>
            <a:off x="6507328" y="3218688"/>
            <a:ext cx="383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(SQL)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507328" y="3511296"/>
            <a:ext cx="383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database/sql query · exec · transactions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10417759" y="3346704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2FAE78"/>
          </a:solidFill>
          <a:ln/>
        </p:spPr>
      </p:sp>
      <p:sp>
        <p:nvSpPr>
          <p:cNvPr id="42" name="Text 39"/>
          <p:cNvSpPr/>
          <p:nvPr/>
        </p:nvSpPr>
        <p:spPr>
          <a:xfrm>
            <a:off x="10417759" y="3346704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66928" y="3950208"/>
            <a:ext cx="539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566928" y="3950208"/>
            <a:ext cx="82296" cy="713232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45" name="Text 42"/>
          <p:cNvSpPr/>
          <p:nvPr/>
        </p:nvSpPr>
        <p:spPr>
          <a:xfrm>
            <a:off x="841248" y="4041648"/>
            <a:ext cx="383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suite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841248" y="4334256"/>
            <a:ext cx="383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· TCP · UDP · FTP · SMTP · POP3 · IMAP · LDAP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751680" y="4169664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2FAE78"/>
          </a:solidFill>
          <a:ln/>
        </p:spPr>
      </p:sp>
      <p:sp>
        <p:nvSpPr>
          <p:cNvPr id="48" name="Text 45"/>
          <p:cNvSpPr/>
          <p:nvPr/>
        </p:nvSpPr>
        <p:spPr>
          <a:xfrm>
            <a:off x="4751680" y="4169664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233008" y="3950208"/>
            <a:ext cx="539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6233008" y="3950208"/>
            <a:ext cx="82296" cy="713232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51" name="Text 48"/>
          <p:cNvSpPr/>
          <p:nvPr/>
        </p:nvSpPr>
        <p:spPr>
          <a:xfrm>
            <a:off x="6507328" y="4041648"/>
            <a:ext cx="383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6507328" y="4334256"/>
            <a:ext cx="383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broker default; real adapter via -tags kafka_real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10417759" y="4169664"/>
            <a:ext cx="698602" cy="274320"/>
          </a:xfrm>
          <a:prstGeom prst="roundRect">
            <a:avLst>
              <a:gd name="adj" fmla="val 50000"/>
            </a:avLst>
          </a:prstGeom>
          <a:solidFill>
            <a:srgbClr val="E0913A"/>
          </a:solidFill>
          <a:ln/>
        </p:spPr>
      </p:sp>
      <p:sp>
        <p:nvSpPr>
          <p:cNvPr id="54" name="Text 51"/>
          <p:cNvSpPr/>
          <p:nvPr/>
        </p:nvSpPr>
        <p:spPr>
          <a:xfrm>
            <a:off x="10417759" y="4169664"/>
            <a:ext cx="698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566928" y="4773168"/>
            <a:ext cx="539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566928" y="4773168"/>
            <a:ext cx="82296" cy="713232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57" name="Text 54"/>
          <p:cNvSpPr/>
          <p:nvPr/>
        </p:nvSpPr>
        <p:spPr>
          <a:xfrm>
            <a:off x="841248" y="4864608"/>
            <a:ext cx="383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JMS — Solace &amp; IBM MQ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841248" y="5157216"/>
            <a:ext cx="383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broker execution needs an adapter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4751680" y="4992624"/>
            <a:ext cx="698602" cy="274320"/>
          </a:xfrm>
          <a:prstGeom prst="roundRect">
            <a:avLst>
              <a:gd name="adj" fmla="val 50000"/>
            </a:avLst>
          </a:prstGeom>
          <a:solidFill>
            <a:srgbClr val="E0913A"/>
          </a:solidFill>
          <a:ln/>
        </p:spPr>
      </p:sp>
      <p:sp>
        <p:nvSpPr>
          <p:cNvPr id="60" name="Text 57"/>
          <p:cNvSpPr/>
          <p:nvPr/>
        </p:nvSpPr>
        <p:spPr>
          <a:xfrm>
            <a:off x="4751680" y="4992624"/>
            <a:ext cx="698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6233008" y="4773168"/>
            <a:ext cx="539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6233008" y="4773168"/>
            <a:ext cx="82296" cy="713232"/>
          </a:xfrm>
          <a:prstGeom prst="rect">
            <a:avLst/>
          </a:prstGeom>
          <a:solidFill>
            <a:srgbClr val="5E7C92"/>
          </a:solidFill>
          <a:ln/>
        </p:spPr>
      </p:sp>
      <p:sp>
        <p:nvSpPr>
          <p:cNvPr id="63" name="Text 60"/>
          <p:cNvSpPr/>
          <p:nvPr/>
        </p:nvSpPr>
        <p:spPr>
          <a:xfrm>
            <a:off x="6507328" y="4864608"/>
            <a:ext cx="383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6507328" y="5157216"/>
            <a:ext cx="383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canaries — NOT TruClient-equivalent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10417759" y="4992624"/>
            <a:ext cx="632765" cy="274320"/>
          </a:xfrm>
          <a:prstGeom prst="roundRect">
            <a:avLst>
              <a:gd name="adj" fmla="val 50000"/>
            </a:avLst>
          </a:prstGeom>
          <a:solidFill>
            <a:srgbClr val="5E7C92"/>
          </a:solidFill>
          <a:ln/>
        </p:spPr>
      </p:sp>
      <p:sp>
        <p:nvSpPr>
          <p:cNvPr id="66" name="Text 63"/>
          <p:cNvSpPr/>
          <p:nvPr/>
        </p:nvSpPr>
        <p:spPr>
          <a:xfrm>
            <a:off x="10417759" y="4992624"/>
            <a:ext cx="6327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566928" y="5632704"/>
            <a:ext cx="11057839" cy="603504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68" name="Shape 65"/>
          <p:cNvSpPr/>
          <p:nvPr/>
        </p:nvSpPr>
        <p:spPr>
          <a:xfrm>
            <a:off x="566928" y="5632704"/>
            <a:ext cx="82296" cy="603504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69" name="Text 66"/>
          <p:cNvSpPr/>
          <p:nvPr/>
        </p:nvSpPr>
        <p:spPr>
          <a:xfrm>
            <a:off x="841248" y="5632704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0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/ non-goal: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GUI, Citrix, Oracle Forms and other desktop-UI protocols — LRE and NeoLoad lead here. APEX routes these to review/external-runner paths, not native high-density load.</a:t>
            </a:r>
            <a:endParaRPr lang="en-US" sz="1150" dirty="0"/>
          </a:p>
        </p:txBody>
      </p:sp>
      <p:sp>
        <p:nvSpPr>
          <p:cNvPr id="70" name="Text 67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Load  ·  Product comparison vs OpenText LoadRunner Enterprise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129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3891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29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AUTHORING &amp; MIGRATION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35024" y="6492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scripts, and a real on-ramp off LoadRunner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298448"/>
            <a:ext cx="11057839" cy="13716"/>
          </a:xfrm>
          <a:prstGeom prst="rect">
            <a:avLst/>
          </a:prstGeom>
          <a:solidFill>
            <a:srgbClr val="DDE7ED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554480"/>
            <a:ext cx="534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554480"/>
            <a:ext cx="82296" cy="2286000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9" name="Text 6"/>
          <p:cNvSpPr/>
          <p:nvPr/>
        </p:nvSpPr>
        <p:spPr>
          <a:xfrm>
            <a:off x="859536" y="1700784"/>
            <a:ext cx="479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A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77824" y="2011680"/>
            <a:ext cx="4705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JSON DSL — no proprietary C/JS VUser language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Browser-based multi-protocol editor, single pane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vars: {{env}}, {{data}}, {{var}}, {{fn.uuid()}}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deterministic assisted-authoring (LLM policy-gated)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3977640"/>
            <a:ext cx="534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" y="3977640"/>
            <a:ext cx="82296" cy="1920240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" y="4123944"/>
            <a:ext cx="479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77824" y="4288536"/>
            <a:ext cx="47059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rules engine: ASP.NET state, CSRF/auth/session, cookies, redirects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Replay-failure detection + guided/batch repair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gap: narrower than VuGen's design studio — LRE's defining moat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78728" y="1554480"/>
            <a:ext cx="53460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78728" y="1554480"/>
            <a:ext cx="82296" cy="4343400"/>
          </a:xfrm>
          <a:prstGeom prst="rect">
            <a:avLst/>
          </a:prstGeom>
          <a:solidFill>
            <a:srgbClr val="129DB2"/>
          </a:solidFill>
          <a:ln/>
        </p:spPr>
      </p:sp>
      <p:sp>
        <p:nvSpPr>
          <p:cNvPr id="17" name="Text 14"/>
          <p:cNvSpPr/>
          <p:nvPr/>
        </p:nvSpPr>
        <p:spPr>
          <a:xfrm>
            <a:off x="6571336" y="1700784"/>
            <a:ext cx="479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29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MIGRATION PATHS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89624" y="2011680"/>
            <a:ext cx="470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Protocol-aware LoadRunner/VuGen ZIP importer classifies the archive, then converts or routes to a review artifact — so migration is auditable, not blind.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89624" y="2834640"/>
            <a:ext cx="4705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LoadRunner — Web HTTP/HTML, SOAP, DB, Network families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JMeter .jmx test plans → DSL + scenario drafts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· WSDL · HAR · raw HTTP / cURL samples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DevWeb .js (static conversion) · k6 (HTTP subset) import/export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AsyncAPI 2.x/3.x → Kafka DSL · result import (k6/Gatling/JMeter)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(GHES) script pull/push &amp; drift status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Load  ·  Product comparison vs OpenText LoadRunner Enterprise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129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3891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29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TELEMETRY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35024" y="6492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formats and live signals — lighter offline depth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298448"/>
            <a:ext cx="11057839" cy="13716"/>
          </a:xfrm>
          <a:prstGeom prst="rect">
            <a:avLst/>
          </a:prstGeom>
          <a:solidFill>
            <a:srgbClr val="DDE7ED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554480"/>
            <a:ext cx="3503066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554480"/>
            <a:ext cx="82296" cy="4343400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1719072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2FA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2029968"/>
            <a:ext cx="2954426" cy="10973"/>
          </a:xfrm>
          <a:prstGeom prst="rect">
            <a:avLst/>
          </a:prstGeom>
          <a:solidFill>
            <a:srgbClr val="DDE7ED"/>
          </a:solidFill>
          <a:ln/>
        </p:spPr>
      </p:sp>
      <p:sp>
        <p:nvSpPr>
          <p:cNvPr id="11" name="Text 8"/>
          <p:cNvSpPr/>
          <p:nvPr/>
        </p:nvSpPr>
        <p:spPr>
          <a:xfrm>
            <a:off x="859536" y="2194560"/>
            <a:ext cx="291785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metric streams to the dashboard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/metrics scrape endpoint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Dynatrace Events API v2 lifecycle hooks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traceparent propagation (HTTP/SOAP)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4314" y="1554480"/>
            <a:ext cx="3503066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4314" y="1554480"/>
            <a:ext cx="82296" cy="4343400"/>
          </a:xfrm>
          <a:prstGeom prst="rect">
            <a:avLst/>
          </a:prstGeom>
          <a:solidFill>
            <a:srgbClr val="129DB2"/>
          </a:solidFill>
          <a:ln/>
        </p:spPr>
      </p:sp>
      <p:sp>
        <p:nvSpPr>
          <p:cNvPr id="14" name="Text 11"/>
          <p:cNvSpPr/>
          <p:nvPr/>
        </p:nvSpPr>
        <p:spPr>
          <a:xfrm>
            <a:off x="4618634" y="1719072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129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&amp; REPORTING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18634" y="2029968"/>
            <a:ext cx="2954426" cy="10973"/>
          </a:xfrm>
          <a:prstGeom prst="rect">
            <a:avLst/>
          </a:prstGeom>
          <a:solidFill>
            <a:srgbClr val="DDE7ED"/>
          </a:solidFill>
          <a:ln/>
        </p:spPr>
      </p:sp>
      <p:sp>
        <p:nvSpPr>
          <p:cNvPr id="16" name="Text 13"/>
          <p:cNvSpPr/>
          <p:nvPr/>
        </p:nvSpPr>
        <p:spPr>
          <a:xfrm>
            <a:off x="4636922" y="2194560"/>
            <a:ext cx="291785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results: Parquet / JSONL (not proprietary .lrr)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report + single &amp; multi-run comparison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trend deltas with regression flags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Executive/engineer PDF export from profiles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121701" y="1554480"/>
            <a:ext cx="3503066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21701" y="1554480"/>
            <a:ext cx="82296" cy="4343400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19" name="Text 16"/>
          <p:cNvSpPr/>
          <p:nvPr/>
        </p:nvSpPr>
        <p:spPr>
          <a:xfrm>
            <a:off x="8396021" y="1719072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GAPS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396021" y="2029968"/>
            <a:ext cx="2954426" cy="10973"/>
          </a:xfrm>
          <a:prstGeom prst="rect">
            <a:avLst/>
          </a:prstGeom>
          <a:solidFill>
            <a:srgbClr val="DDE7ED"/>
          </a:solidFill>
          <a:ln/>
        </p:spPr>
      </p:sp>
      <p:sp>
        <p:nvSpPr>
          <p:cNvPr id="21" name="Text 18"/>
          <p:cNvSpPr/>
          <p:nvPr/>
        </p:nvSpPr>
        <p:spPr>
          <a:xfrm>
            <a:off x="8414309" y="2194560"/>
            <a:ext cx="291785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depth lighter than LRE Analysis (graph merge, page diagnostics)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traceparent header only — no OTel span instrumentation/exporter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Word export; root-cause is deterministic, not APM-causal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Load  ·  Product comparison vs OpenText LoadRunner Enterprise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129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3891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29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&amp; GOVERNANCE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35024" y="6492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Largely at parity — a few deliberate trade-offs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298448"/>
            <a:ext cx="11057839" cy="13716"/>
          </a:xfrm>
          <a:prstGeom prst="rect">
            <a:avLst/>
          </a:prstGeom>
          <a:solidFill>
            <a:srgbClr val="DDE7ED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508760"/>
            <a:ext cx="539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508760"/>
            <a:ext cx="82296" cy="1298448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1655064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/ SSO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1248" y="2057400"/>
            <a:ext cx="420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+ trusted-header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SAML out of scope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45456" y="1929384"/>
            <a:ext cx="457200" cy="45720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184" y="203911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6000" y="240487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A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233008" y="1508760"/>
            <a:ext cx="539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33008" y="1508760"/>
            <a:ext cx="82296" cy="1298448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16" name="Text 12"/>
          <p:cNvSpPr/>
          <p:nvPr/>
        </p:nvSpPr>
        <p:spPr>
          <a:xfrm>
            <a:off x="6507328" y="1655064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· service accounts · audit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507328" y="2057400"/>
            <a:ext cx="420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end-to-end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to domains/projects/roles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10911535" y="1929384"/>
            <a:ext cx="457200" cy="45720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263" y="2039112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92079" y="240487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A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66928" y="2953512"/>
            <a:ext cx="539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6928" y="2953512"/>
            <a:ext cx="82296" cy="1298448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23" name="Text 18"/>
          <p:cNvSpPr/>
          <p:nvPr/>
        </p:nvSpPr>
        <p:spPr>
          <a:xfrm>
            <a:off x="841248" y="3099816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841248" y="3502152"/>
            <a:ext cx="420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+ approvals + blackout windows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capacity reservations &amp; reserved pools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245456" y="3374136"/>
            <a:ext cx="457200" cy="45720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184" y="3483864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26000" y="384962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A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6233008" y="2953512"/>
            <a:ext cx="539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233008" y="2953512"/>
            <a:ext cx="82296" cy="1298448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30" name="Text 24"/>
          <p:cNvSpPr/>
          <p:nvPr/>
        </p:nvSpPr>
        <p:spPr>
          <a:xfrm>
            <a:off x="6507328" y="3099816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6507328" y="3502152"/>
            <a:ext cx="420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/ Teams / Dynatrace webhooks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native email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10911535" y="3374136"/>
            <a:ext cx="457200" cy="45720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1263" y="3483864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692079" y="384962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A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566928" y="4398264"/>
            <a:ext cx="539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566928" y="4398264"/>
            <a:ext cx="82296" cy="1298448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37" name="Text 30"/>
          <p:cNvSpPr/>
          <p:nvPr/>
        </p:nvSpPr>
        <p:spPr>
          <a:xfrm>
            <a:off x="841248" y="4544568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841248" y="4946904"/>
            <a:ext cx="420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XML + GitHub/ADO/Jenkins + Git sync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maintained marketplace plugins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5245456" y="4818888"/>
            <a:ext cx="457200" cy="45720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5184" y="4928616"/>
            <a:ext cx="237744" cy="23774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026000" y="52943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TRAILS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6233008" y="4398264"/>
            <a:ext cx="539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233008" y="4398264"/>
            <a:ext cx="82296" cy="1298448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44" name="Text 36"/>
          <p:cNvSpPr/>
          <p:nvPr/>
        </p:nvSpPr>
        <p:spPr>
          <a:xfrm>
            <a:off x="6507328" y="4544568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/ PKI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6507328" y="4946904"/>
            <a:ext cx="420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refs + PII redaction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Vault, no mTLS</a:t>
            </a:r>
            <a:endParaRPr lang="en-US" sz="1150" dirty="0"/>
          </a:p>
        </p:txBody>
      </p:sp>
      <p:sp>
        <p:nvSpPr>
          <p:cNvPr id="46" name="Shape 38"/>
          <p:cNvSpPr/>
          <p:nvPr/>
        </p:nvSpPr>
        <p:spPr>
          <a:xfrm>
            <a:off x="10911535" y="4818888"/>
            <a:ext cx="457200" cy="457200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263" y="4928616"/>
            <a:ext cx="237744" cy="23774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0692079" y="52943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TRAILS</a:t>
            </a:r>
            <a:endParaRPr lang="en-US" sz="800" dirty="0"/>
          </a:p>
        </p:txBody>
      </p:sp>
      <p:sp>
        <p:nvSpPr>
          <p:cNvPr id="49" name="Text 40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Load  ·  Product comparison vs OpenText LoadRunner Enterprise</a:t>
            </a:r>
            <a:endParaRPr lang="en-US" sz="850" dirty="0"/>
          </a:p>
        </p:txBody>
      </p:sp>
      <p:sp>
        <p:nvSpPr>
          <p:cNvPr id="50" name="Text 41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129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3891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29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SCORECARD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35024" y="6492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each platform wins, at a glance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298448"/>
            <a:ext cx="11057839" cy="13716"/>
          </a:xfrm>
          <a:prstGeom prst="rect">
            <a:avLst/>
          </a:prstGeom>
          <a:solidFill>
            <a:srgbClr val="DDE7ED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00400"/>
                <a:gridCol w="3246120"/>
                <a:gridCol w="1508760"/>
              </a:tblGrid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 area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APEX 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LRE 26.x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 efficiency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Goroutine VUsers, K8s HPA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Process/thread VUsers on LG VMs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 APEX leads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E7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pane of glass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web app, end to end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Portal + VuGen + Analysis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 APEX leads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E7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results format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Parquet / JSONL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Proprietary .lrr / .lra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 APEX leads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E7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VUser controls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Scale/pause/resume/duration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Possible, heavier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 APEX leads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E7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breadth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LR·JMeter·OpenAPI·HAR·k6…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LR-native; limited import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 APEX leads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E7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Workload modeling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Open+closed, pacing, goals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 Parity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7C92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execution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gRPC multi-generator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Controller + LGs (mature)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 Parity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7C92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 · RBAC · scheduling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OIDC/header, cron+approvals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LDAP/SAML, timeslots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 Parity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7C92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Correlation depth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Ranked rule packs + repair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studio + learning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 APEX trails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13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analysis depth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+ comparison + trend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 merge, drill-down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 APEX trails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13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 / load zones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fleet targeting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hosts, cloud LGs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 APEX trails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13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Proven scale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benchmark artifacts yet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Decade-hardened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 APEX trails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13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/ SPA fidelity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Diagnostic canaries only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5E71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TruClient DOM record/replay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▼▼  APEX trails badly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3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Load  ·  Product comparison vs OpenText LoadRunner Enterprise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85216" cy="585216"/>
          </a:xfrm>
          <a:prstGeom prst="ellipse">
            <a:avLst/>
          </a:prstGeom>
          <a:solidFill>
            <a:srgbClr val="129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3891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29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GAPS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35024" y="6492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fix before claiming full LRE parity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298448"/>
            <a:ext cx="11057839" cy="13716"/>
          </a:xfrm>
          <a:prstGeom prst="rect">
            <a:avLst/>
          </a:prstGeom>
          <a:solidFill>
            <a:srgbClr val="DDE7ED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554480"/>
            <a:ext cx="3503066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554480"/>
            <a:ext cx="82296" cy="2084832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737360"/>
            <a:ext cx="30458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intelligence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2267712"/>
            <a:ext cx="30092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Broaden response-family fixtures; UI-assisted medium-confidence review. Still trails VuGen's studio + learning.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321868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E2233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Effort: 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44314" y="1554480"/>
            <a:ext cx="3503066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44314" y="1554480"/>
            <a:ext cx="82296" cy="2084832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15" name="Text 12"/>
          <p:cNvSpPr/>
          <p:nvPr/>
        </p:nvSpPr>
        <p:spPr>
          <a:xfrm>
            <a:off x="4600346" y="1737360"/>
            <a:ext cx="30458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/ SPA fidelity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600346" y="2267712"/>
            <a:ext cx="30092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VUsers are canaries — no DOM-aware capture. DOM record/replay is a separate large effort.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00346" y="321868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E2233"/>
          </a:solidFill>
          <a:ln/>
        </p:spPr>
      </p:sp>
      <p:sp>
        <p:nvSpPr>
          <p:cNvPr id="18" name="Text 15"/>
          <p:cNvSpPr/>
          <p:nvPr/>
        </p:nvSpPr>
        <p:spPr>
          <a:xfrm>
            <a:off x="4600346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Effort: L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121701" y="1554480"/>
            <a:ext cx="3503066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121701" y="1554480"/>
            <a:ext cx="82296" cy="2084832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21" name="Text 18"/>
          <p:cNvSpPr/>
          <p:nvPr/>
        </p:nvSpPr>
        <p:spPr>
          <a:xfrm>
            <a:off x="8377733" y="1737360"/>
            <a:ext cx="30458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scale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377733" y="2267712"/>
            <a:ext cx="30092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one reproducible density benchmark with hardware, generator class &amp; protocol mix.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377733" y="321868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E2233"/>
          </a:solidFill>
          <a:ln/>
        </p:spPr>
      </p:sp>
      <p:sp>
        <p:nvSpPr>
          <p:cNvPr id="24" name="Text 21"/>
          <p:cNvSpPr/>
          <p:nvPr/>
        </p:nvSpPr>
        <p:spPr>
          <a:xfrm>
            <a:off x="8377733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Effort: S–M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6928" y="3822192"/>
            <a:ext cx="3503066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66928" y="3822192"/>
            <a:ext cx="82296" cy="2084832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4005072"/>
            <a:ext cx="30458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analysis depth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822960" y="4535424"/>
            <a:ext cx="30092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Multi-run trend polish, report-profile hardening, deeper transaction drill-down.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22960" y="548640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E2233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5486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Effort: M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344314" y="3822192"/>
            <a:ext cx="3503066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44314" y="3822192"/>
            <a:ext cx="82296" cy="2084832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33" name="Text 30"/>
          <p:cNvSpPr/>
          <p:nvPr/>
        </p:nvSpPr>
        <p:spPr>
          <a:xfrm>
            <a:off x="4600346" y="4005072"/>
            <a:ext cx="30458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 / load-zone geo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4600346" y="4535424"/>
            <a:ext cx="30092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self-hosted zones exist; add per-region response metrics &amp; benchmark envelopes.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00346" y="548640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E2233"/>
          </a:solidFill>
          <a:ln/>
        </p:spPr>
      </p:sp>
      <p:sp>
        <p:nvSpPr>
          <p:cNvPr id="36" name="Text 33"/>
          <p:cNvSpPr/>
          <p:nvPr/>
        </p:nvSpPr>
        <p:spPr>
          <a:xfrm>
            <a:off x="4600346" y="5486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Effort: M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121701" y="3822192"/>
            <a:ext cx="3503066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  <a:effectLst>
            <a:outerShdw sx="100000" sy="100000" kx="0" ky="0" algn="bl" rotWithShape="0" blurRad="88900" dist="38100" dir="5400000">
              <a:srgbClr val="0A1A28">
                <a:alpha val="1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121701" y="3822192"/>
            <a:ext cx="82296" cy="2084832"/>
          </a:xfrm>
          <a:prstGeom prst="rect">
            <a:avLst/>
          </a:prstGeom>
          <a:solidFill>
            <a:srgbClr val="E0913A"/>
          </a:solidFill>
          <a:ln/>
        </p:spPr>
      </p:sp>
      <p:sp>
        <p:nvSpPr>
          <p:cNvPr id="39" name="Text 36"/>
          <p:cNvSpPr/>
          <p:nvPr/>
        </p:nvSpPr>
        <p:spPr>
          <a:xfrm>
            <a:off x="8377733" y="4005072"/>
            <a:ext cx="30458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5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hardening</a:t>
            </a:r>
            <a:endParaRPr lang="en-US" sz="1450" dirty="0"/>
          </a:p>
        </p:txBody>
      </p:sp>
      <p:sp>
        <p:nvSpPr>
          <p:cNvPr id="40" name="Text 37"/>
          <p:cNvSpPr/>
          <p:nvPr/>
        </p:nvSpPr>
        <p:spPr>
          <a:xfrm>
            <a:off x="8377733" y="4535424"/>
            <a:ext cx="30092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OTel spans, Vault/mTLS, SAML, maintained CI marketplace plugins.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377733" y="548640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E2233"/>
          </a:solidFill>
          <a:ln/>
        </p:spPr>
      </p:sp>
      <p:sp>
        <p:nvSpPr>
          <p:cNvPr id="42" name="Text 39"/>
          <p:cNvSpPr/>
          <p:nvPr/>
        </p:nvSpPr>
        <p:spPr>
          <a:xfrm>
            <a:off x="8377733" y="5486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Effort: M each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Load  ·  Product comparison vs OpenText LoadRunner Enterprise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585216" cy="585216"/>
          </a:xfrm>
          <a:prstGeom prst="ellipse">
            <a:avLst/>
          </a:prstGeom>
          <a:solidFill>
            <a:srgbClr val="27C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492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47548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35024" y="67665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right tool for the workload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600200"/>
            <a:ext cx="5346040" cy="3657600"/>
          </a:xfrm>
          <a:prstGeom prst="rect">
            <a:avLst/>
          </a:prstGeom>
          <a:solidFill>
            <a:srgbClr val="1328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600200"/>
            <a:ext cx="5346040" cy="566928"/>
          </a:xfrm>
          <a:prstGeom prst="rect">
            <a:avLst/>
          </a:prstGeom>
          <a:solidFill>
            <a:srgbClr val="2FAE78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600200"/>
            <a:ext cx="488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APEX LOAD WHEN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77824" y="2377440"/>
            <a:ext cx="474253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9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run on Kubernetes and want autoscaling for free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9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HTTP/API/gRPC/WebSocket is the bulk of your load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9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value open scripts, open results, and CI-native flows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9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one web app instead of three desktop tools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9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Migrating off LoadRunner and want auditable imports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600200"/>
            <a:ext cx="5346040" cy="3657600"/>
          </a:xfrm>
          <a:prstGeom prst="rect">
            <a:avLst/>
          </a:prstGeom>
          <a:solidFill>
            <a:srgbClr val="1328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78728" y="1600200"/>
            <a:ext cx="5346040" cy="566928"/>
          </a:xfrm>
          <a:prstGeom prst="rect">
            <a:avLst/>
          </a:prstGeom>
          <a:solidFill>
            <a:srgbClr val="5E7C92"/>
          </a:solidFill>
          <a:ln/>
        </p:spPr>
      </p:sp>
      <p:sp>
        <p:nvSpPr>
          <p:cNvPr id="12" name="Text 9"/>
          <p:cNvSpPr/>
          <p:nvPr/>
        </p:nvSpPr>
        <p:spPr>
          <a:xfrm>
            <a:off x="6553048" y="1600200"/>
            <a:ext cx="488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ON LRE WHEN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89624" y="2377440"/>
            <a:ext cx="474253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9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SAP GUI, Citrix, or Oracle Forms load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9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VuGen correlation is mission-critical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9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TruClient DOM-level browser fidelity is required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9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depend on Analysis's offline graph-merge depth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9D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 proven scale with vendor support is non-negotiable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5577840"/>
            <a:ext cx="82296" cy="777240"/>
          </a:xfrm>
          <a:prstGeom prst="rect">
            <a:avLst/>
          </a:prstGeom>
          <a:solidFill>
            <a:srgbClr val="27C4D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532120"/>
            <a:ext cx="106920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7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Load is the stronger day-to-day HTTP/API platform and the cleaner deployment story. Close the correlation, browser, analysis, and proven-scale gaps and it becomes a credible full LRE replacement.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Load vs LoadRunner Enterprise</dc:title>
  <dc:subject>PptxGenJS Presentation</dc:subject>
  <dc:creator>APEX Load</dc:creator>
  <cp:lastModifiedBy>APEX Load</cp:lastModifiedBy>
  <cp:revision>1</cp:revision>
  <dcterms:created xsi:type="dcterms:W3CDTF">2026-06-09T01:52:51Z</dcterms:created>
  <dcterms:modified xsi:type="dcterms:W3CDTF">2026-06-09T01:52:51Z</dcterms:modified>
</cp:coreProperties>
</file>